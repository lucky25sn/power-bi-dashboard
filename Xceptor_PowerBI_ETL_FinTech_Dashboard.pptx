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1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A1628"/>
                </a:solidFill>
                <a:latin typeface="Arial"/>
              </a:rPr>
              <a:t>Data Quality Dimensions – Improvement After ETL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ETL (%)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Completeness</c:v>
                </c:pt>
                <c:pt idx="1">
                  <c:v>Consistency</c:v>
                </c:pt>
                <c:pt idx="2">
                  <c:v>Accuracy</c:v>
                </c:pt>
                <c:pt idx="3">
                  <c:v>Uniqueness</c:v>
                </c:pt>
                <c:pt idx="4">
                  <c:v>Timeliness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54</c:v>
                </c:pt>
                <c:pt idx="2">
                  <c:v>71</c:v>
                </c:pt>
                <c:pt idx="3">
                  <c:v>58</c:v>
                </c:pt>
                <c:pt idx="4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3B-4971-B7F4-1DC2DD3DA8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ETL (%)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Completeness</c:v>
                </c:pt>
                <c:pt idx="1">
                  <c:v>Consistency</c:v>
                </c:pt>
                <c:pt idx="2">
                  <c:v>Accuracy</c:v>
                </c:pt>
                <c:pt idx="3">
                  <c:v>Uniqueness</c:v>
                </c:pt>
                <c:pt idx="4">
                  <c:v>Timeliness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99</c:v>
                </c:pt>
                <c:pt idx="1">
                  <c:v>98</c:v>
                </c:pt>
                <c:pt idx="2">
                  <c:v>99</c:v>
                </c:pt>
                <c:pt idx="3">
                  <c:v>100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3B-4971-B7F4-1DC2DD3DA8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4556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1628"/>
                </a:solidFill>
                <a:latin typeface="Arial"/>
              </a:defRPr>
            </a:pPr>
            <a:r>
              <a:rPr lang="en-ZA" sz="1200" b="0" i="0" u="none" strike="noStrike">
                <a:solidFill>
                  <a:srgbClr val="0A1628"/>
                </a:solidFill>
                <a:latin typeface="Arial"/>
              </a:rPr>
              <a:t>Raw Data Issue Distribution (Pre-ETL)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Issue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F48-4B30-8A4F-4224E1437009}"/>
              </c:ext>
            </c:extLst>
          </c:dPt>
          <c:dPt>
            <c:idx val="1"/>
            <c:bubble3D val="0"/>
            <c:spPr>
              <a:solidFill>
                <a:srgbClr val="FB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F48-4B30-8A4F-4224E1437009}"/>
              </c:ext>
            </c:extLst>
          </c:dPt>
          <c:dPt>
            <c:idx val="2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48-4B30-8A4F-4224E1437009}"/>
              </c:ext>
            </c:extLst>
          </c:dPt>
          <c:dPt>
            <c:idx val="3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48-4B30-8A4F-4224E1437009}"/>
              </c:ext>
            </c:extLst>
          </c:dPt>
          <c:dPt>
            <c:idx val="4"/>
            <c:bubble3D val="0"/>
            <c:spPr>
              <a:solidFill>
                <a:srgbClr val="0D47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F48-4B30-8A4F-4224E14370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7F48-4B30-8A4F-4224E14370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7F48-4B30-8A4F-4224E14370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7F48-4B30-8A4F-4224E1437009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7F48-4B30-8A4F-4224E1437009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7F48-4B30-8A4F-4224E14370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Null/Missing</c:v>
                </c:pt>
                <c:pt idx="1">
                  <c:v>Duplicates</c:v>
                </c:pt>
                <c:pt idx="2">
                  <c:v>Format Errors</c:v>
                </c:pt>
                <c:pt idx="3">
                  <c:v>Outliers</c:v>
                </c:pt>
                <c:pt idx="4">
                  <c:v>Schema Mismatch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22</c:v>
                </c:pt>
                <c:pt idx="2">
                  <c:v>19</c:v>
                </c:pt>
                <c:pt idx="3">
                  <c:v>16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F48-4B30-8A4F-4224E14370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4556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A0C0E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A0C0E0"/>
                </a:solidFill>
                <a:latin typeface="Arial"/>
              </a:rPr>
              <a:t>Monthly Transaction Volume vs Flagged Records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 Transactions</c:v>
                </c:pt>
              </c:strCache>
            </c:strRef>
          </c:tx>
          <c:spPr>
            <a:ln w="31750" cap="flat">
              <a:solidFill>
                <a:srgbClr val="00BC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CD4"/>
              </a:solidFill>
              <a:ln w="9525" cap="flat">
                <a:solidFill>
                  <a:srgbClr val="00BCD4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310000</c:v>
                </c:pt>
                <c:pt idx="1">
                  <c:v>322000</c:v>
                </c:pt>
                <c:pt idx="2">
                  <c:v>345000</c:v>
                </c:pt>
                <c:pt idx="3">
                  <c:v>361000</c:v>
                </c:pt>
                <c:pt idx="4">
                  <c:v>378000</c:v>
                </c:pt>
                <c:pt idx="5">
                  <c:v>392000</c:v>
                </c:pt>
                <c:pt idx="6">
                  <c:v>405000</c:v>
                </c:pt>
                <c:pt idx="7">
                  <c:v>419000</c:v>
                </c:pt>
                <c:pt idx="8">
                  <c:v>388000</c:v>
                </c:pt>
                <c:pt idx="9">
                  <c:v>421000</c:v>
                </c:pt>
                <c:pt idx="10">
                  <c:v>436000</c:v>
                </c:pt>
                <c:pt idx="11">
                  <c:v>448000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4C0-4CF3-A081-41CFF5A419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Flagged Records</c:v>
                </c:pt>
              </c:strCache>
            </c:strRef>
          </c:tx>
          <c:spPr>
            <a:ln w="31750" cap="flat">
              <a:solidFill>
                <a:srgbClr val="FFB3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B300"/>
              </a:solidFill>
              <a:ln w="9525" cap="flat">
                <a:solidFill>
                  <a:srgbClr val="FFB300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42000</c:v>
                </c:pt>
                <c:pt idx="1">
                  <c:v>38000</c:v>
                </c:pt>
                <c:pt idx="2">
                  <c:v>29000</c:v>
                </c:pt>
                <c:pt idx="3">
                  <c:v>25000</c:v>
                </c:pt>
                <c:pt idx="4">
                  <c:v>18000</c:v>
                </c:pt>
                <c:pt idx="5">
                  <c:v>12000</c:v>
                </c:pt>
                <c:pt idx="6">
                  <c:v>9000</c:v>
                </c:pt>
                <c:pt idx="7">
                  <c:v>8500</c:v>
                </c:pt>
                <c:pt idx="8">
                  <c:v>10000</c:v>
                </c:pt>
                <c:pt idx="9">
                  <c:v>7800</c:v>
                </c:pt>
                <c:pt idx="10">
                  <c:v>6200</c:v>
                </c:pt>
                <c:pt idx="11">
                  <c:v>5100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4C0-4CF3-A081-41CFF5A419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A0C0E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A0C0E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A0C0E0"/>
                </a:solidFill>
                <a:latin typeface="Arial"/>
              </a:rPr>
              <a:t>Volume by Asset Class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($M)</c:v>
                </c:pt>
              </c:strCache>
            </c:strRef>
          </c:tx>
          <c:spPr>
            <a:solidFill>
              <a:srgbClr val="00BCD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Equities</c:v>
                </c:pt>
                <c:pt idx="1">
                  <c:v>FX Spot</c:v>
                </c:pt>
                <c:pt idx="2">
                  <c:v>Fixed Income</c:v>
                </c:pt>
                <c:pt idx="3">
                  <c:v>Derivatives</c:v>
                </c:pt>
                <c:pt idx="4">
                  <c:v>Payments</c:v>
                </c:pt>
                <c:pt idx="5">
                  <c:v>Commodities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1240</c:v>
                </c:pt>
                <c:pt idx="1">
                  <c:v>890</c:v>
                </c:pt>
                <c:pt idx="2">
                  <c:v>760</c:v>
                </c:pt>
                <c:pt idx="3">
                  <c:v>540</c:v>
                </c:pt>
                <c:pt idx="4">
                  <c:v>480</c:v>
                </c:pt>
                <c:pt idx="5">
                  <c:v>290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3D-4B62-8B7D-13E01AB5C4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A0C0E0"/>
                </a:solidFill>
                <a:latin typeface="Arial"/>
              </a:defRPr>
            </a:pPr>
            <a:r>
              <a:rPr lang="en-ZA" sz="1000" b="0" i="0" u="none" strike="noStrike">
                <a:solidFill>
                  <a:srgbClr val="A0C0E0"/>
                </a:solidFill>
                <a:latin typeface="Arial"/>
              </a:rPr>
              <a:t>Flagged Record Disposition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Error Types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3A0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9D1-412C-85E1-9B7A5AB7BFD3}"/>
              </c:ext>
            </c:extLst>
          </c:dPt>
          <c:dPt>
            <c:idx val="1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D1-412C-85E1-9B7A5AB7BFD3}"/>
              </c:ext>
            </c:extLst>
          </c:dPt>
          <c:dPt>
            <c:idx val="2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D1-412C-85E1-9B7A5AB7BFD3}"/>
              </c:ext>
            </c:extLst>
          </c:dPt>
          <c:dPt>
            <c:idx val="3"/>
            <c:bubble3D val="0"/>
            <c:spPr>
              <a:solidFill>
                <a:srgbClr val="7B1FA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D1-412C-85E1-9B7A5AB7BFD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9D1-412C-85E1-9B7A5AB7BFD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9D1-412C-85E1-9B7A5AB7BFD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9D1-412C-85E1-9B7A5AB7BFD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9D1-412C-85E1-9B7A5AB7BFD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Auto-Corrected</c:v>
                </c:pt>
                <c:pt idx="1">
                  <c:v>Rejected</c:v>
                </c:pt>
                <c:pt idx="2">
                  <c:v>In Review</c:v>
                </c:pt>
                <c:pt idx="3">
                  <c:v>Escalated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14</c:v>
                </c:pt>
                <c:pt idx="2">
                  <c:v>10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D1-412C-85E1-9B7A5AB7B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A0C0E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A0C0E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A0C0E0"/>
                </a:solidFill>
                <a:latin typeface="Arial"/>
              </a:rPr>
              <a:t>FX Net Exposure by Currency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Exposure ($M)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EA2-4710-9ABD-E9675A2D7F0F}"/>
              </c:ext>
            </c:extLst>
          </c:dPt>
          <c:dPt>
            <c:idx val="1"/>
            <c:invertIfNegative val="0"/>
            <c:bubble3D val="0"/>
            <c:spPr>
              <a:solidFill>
                <a:srgbClr val="26A6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EA2-4710-9ABD-E9675A2D7F0F}"/>
              </c:ext>
            </c:extLst>
          </c:dPt>
          <c:dPt>
            <c:idx val="2"/>
            <c:invertIfNegative val="0"/>
            <c:bubble3D val="0"/>
            <c:spPr>
              <a:solidFill>
                <a:srgbClr val="4DB6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EA2-4710-9ABD-E9675A2D7F0F}"/>
              </c:ext>
            </c:extLst>
          </c:dPt>
          <c:dPt>
            <c:idx val="3"/>
            <c:invertIfNegative val="0"/>
            <c:bubble3D val="0"/>
            <c:spPr>
              <a:solidFill>
                <a:srgbClr val="80CB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EA2-4710-9ABD-E9675A2D7F0F}"/>
              </c:ext>
            </c:extLst>
          </c:dPt>
          <c:dPt>
            <c:idx val="4"/>
            <c:invertIfNegative val="0"/>
            <c:bubble3D val="0"/>
            <c:spPr>
              <a:solidFill>
                <a:srgbClr val="B2DF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EA2-4710-9ABD-E9675A2D7F0F}"/>
              </c:ext>
            </c:extLst>
          </c:dPt>
          <c:dPt>
            <c:idx val="5"/>
            <c:invertIfNegative val="0"/>
            <c:bubble3D val="0"/>
            <c:spPr>
              <a:solidFill>
                <a:srgbClr val="E0F2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EA2-4710-9ABD-E9675A2D7F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USD</c:v>
                </c:pt>
                <c:pt idx="1">
                  <c:v>EUR</c:v>
                </c:pt>
                <c:pt idx="2">
                  <c:v>GBP</c:v>
                </c:pt>
                <c:pt idx="3">
                  <c:v>JPY</c:v>
                </c:pt>
                <c:pt idx="4">
                  <c:v>ZAR</c:v>
                </c:pt>
                <c:pt idx="5">
                  <c:v>CHF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</c:v>
                </c:pt>
                <c:pt idx="1">
                  <c:v>560</c:v>
                </c:pt>
                <c:pt idx="2">
                  <c:v>340</c:v>
                </c:pt>
                <c:pt idx="3">
                  <c:v>180</c:v>
                </c:pt>
                <c:pt idx="4">
                  <c:v>95</c:v>
                </c:pt>
                <c:pt idx="5">
                  <c:v>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EA2-4710-9ABD-E9675A2D7F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FD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414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DASHBOARD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2514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Data Cleaning &amp; Transformation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3108960"/>
            <a:ext cx="5943600" cy="36576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Financial Data Quality for Operational Excellence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3931920"/>
            <a:ext cx="2606040" cy="1371600"/>
          </a:xfrm>
          <a:prstGeom prst="rect">
            <a:avLst/>
          </a:prstGeom>
          <a:solidFill>
            <a:srgbClr val="142136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1148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 Saved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931920"/>
            <a:ext cx="2606040" cy="1371600"/>
          </a:xfrm>
          <a:prstGeom prst="rect">
            <a:avLst/>
          </a:prstGeom>
          <a:solidFill>
            <a:srgbClr val="142136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29184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4663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Rate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3931920"/>
            <a:ext cx="2606040" cy="1371600"/>
          </a:xfrm>
          <a:prstGeom prst="rect">
            <a:avLst/>
          </a:prstGeom>
          <a:solidFill>
            <a:srgbClr val="142136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17220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72200" y="4663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Speed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52560" y="3931920"/>
            <a:ext cx="2606040" cy="1371600"/>
          </a:xfrm>
          <a:prstGeom prst="rect">
            <a:avLst/>
          </a:prstGeom>
          <a:solidFill>
            <a:srgbClr val="142136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9052560" y="4023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052560" y="4663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Reduction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62179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Xceptor  |  FinTech Financial Data Automation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457200"/>
            <a:ext cx="777240" cy="777240"/>
          </a:xfrm>
          <a:prstGeom prst="rect">
            <a:avLst/>
          </a:prstGeom>
          <a:solidFill>
            <a:srgbClr val="142136"/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10241280" y="457200"/>
            <a:ext cx="777240" cy="777240"/>
          </a:xfrm>
          <a:prstGeom prst="rect">
            <a:avLst/>
          </a:prstGeom>
          <a:solidFill>
            <a:srgbClr val="142136">
              <a:alpha val="9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1"/>
          <p:cNvSpPr/>
          <p:nvPr/>
        </p:nvSpPr>
        <p:spPr>
          <a:xfrm>
            <a:off x="11155680" y="457200"/>
            <a:ext cx="777240" cy="777240"/>
          </a:xfrm>
          <a:prstGeom prst="rect">
            <a:avLst/>
          </a:prstGeom>
          <a:solidFill>
            <a:srgbClr val="142136">
              <a:alpha val="9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9326880" y="1463040"/>
            <a:ext cx="777240" cy="777240"/>
          </a:xfrm>
          <a:prstGeom prst="rect">
            <a:avLst/>
          </a:prstGeom>
          <a:solidFill>
            <a:srgbClr val="142136">
              <a:alpha val="9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10241280" y="1463040"/>
            <a:ext cx="777240" cy="777240"/>
          </a:xfrm>
          <a:prstGeom prst="rect">
            <a:avLst/>
          </a:prstGeom>
          <a:solidFill>
            <a:srgbClr val="142136">
              <a:alpha val="8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11155680" y="1463040"/>
            <a:ext cx="777240" cy="777240"/>
          </a:xfrm>
          <a:prstGeom prst="rect">
            <a:avLst/>
          </a:prstGeom>
          <a:solidFill>
            <a:srgbClr val="142136">
              <a:alpha val="8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9326880" y="2468880"/>
            <a:ext cx="777240" cy="777240"/>
          </a:xfrm>
          <a:prstGeom prst="rect">
            <a:avLst/>
          </a:prstGeom>
          <a:solidFill>
            <a:srgbClr val="142136">
              <a:alpha val="8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Shape 26"/>
          <p:cNvSpPr/>
          <p:nvPr/>
        </p:nvSpPr>
        <p:spPr>
          <a:xfrm>
            <a:off x="10241280" y="2468880"/>
            <a:ext cx="777240" cy="777240"/>
          </a:xfrm>
          <a:prstGeom prst="rect">
            <a:avLst/>
          </a:prstGeom>
          <a:solidFill>
            <a:srgbClr val="142136">
              <a:alpha val="7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11155680" y="2468880"/>
            <a:ext cx="777240" cy="777240"/>
          </a:xfrm>
          <a:prstGeom prst="rect">
            <a:avLst/>
          </a:prstGeom>
          <a:solidFill>
            <a:srgbClr val="142136">
              <a:alpha val="7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9326880" y="3474720"/>
            <a:ext cx="777240" cy="777240"/>
          </a:xfrm>
          <a:prstGeom prst="rect">
            <a:avLst/>
          </a:prstGeom>
          <a:solidFill>
            <a:srgbClr val="142136">
              <a:alpha val="7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10241280" y="3474720"/>
            <a:ext cx="777240" cy="777240"/>
          </a:xfrm>
          <a:prstGeom prst="rect">
            <a:avLst/>
          </a:prstGeom>
          <a:solidFill>
            <a:srgbClr val="142136">
              <a:alpha val="6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11155680" y="3474720"/>
            <a:ext cx="777240" cy="777240"/>
          </a:xfrm>
          <a:prstGeom prst="rect">
            <a:avLst/>
          </a:prstGeom>
          <a:solidFill>
            <a:srgbClr val="142136">
              <a:alpha val="6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9326880" y="4480560"/>
            <a:ext cx="777240" cy="777240"/>
          </a:xfrm>
          <a:prstGeom prst="rect">
            <a:avLst/>
          </a:prstGeom>
          <a:solidFill>
            <a:srgbClr val="142136">
              <a:alpha val="6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10241280" y="4480560"/>
            <a:ext cx="777240" cy="777240"/>
          </a:xfrm>
          <a:prstGeom prst="rect">
            <a:avLst/>
          </a:prstGeom>
          <a:solidFill>
            <a:srgbClr val="142136">
              <a:alpha val="5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11155680" y="4480560"/>
            <a:ext cx="777240" cy="777240"/>
          </a:xfrm>
          <a:prstGeom prst="rect">
            <a:avLst/>
          </a:prstGeom>
          <a:solidFill>
            <a:srgbClr val="142136">
              <a:alpha val="5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Shape 34"/>
          <p:cNvSpPr/>
          <p:nvPr/>
        </p:nvSpPr>
        <p:spPr>
          <a:xfrm>
            <a:off x="9326880" y="5486400"/>
            <a:ext cx="777240" cy="777240"/>
          </a:xfrm>
          <a:prstGeom prst="rect">
            <a:avLst/>
          </a:prstGeom>
          <a:solidFill>
            <a:srgbClr val="142136">
              <a:alpha val="5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Shape 35"/>
          <p:cNvSpPr/>
          <p:nvPr/>
        </p:nvSpPr>
        <p:spPr>
          <a:xfrm>
            <a:off x="10241280" y="5486400"/>
            <a:ext cx="777240" cy="777240"/>
          </a:xfrm>
          <a:prstGeom prst="rect">
            <a:avLst/>
          </a:prstGeom>
          <a:solidFill>
            <a:srgbClr val="142136">
              <a:alpha val="45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11155680" y="5486400"/>
            <a:ext cx="777240" cy="777240"/>
          </a:xfrm>
          <a:prstGeom prst="rect">
            <a:avLst/>
          </a:prstGeom>
          <a:solidFill>
            <a:srgbClr val="142136">
              <a:alpha val="40000"/>
            </a:srgbClr>
          </a:solidFill>
          <a:ln w="12700">
            <a:solidFill>
              <a:srgbClr val="00BCD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RAW FINANCIAL DATA IS MESSY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before ETL automation?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64008" cy="20116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90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9659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payment recorded multiple times across core banking &amp; payment gateways due to system retries and manual re-entry.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06240" y="13258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4206240" y="1325880"/>
            <a:ext cx="64008" cy="20116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50876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92040" y="1490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Missing/Null Values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343400" y="19659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fields like Account ID, Currency Code, and Trade Date are blank — causing reconciliation failures downstream.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92440" y="13258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8092440" y="1325880"/>
            <a:ext cx="64008" cy="20116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150876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778240" y="1490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229600" y="19659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appear as DD/MM/YYYY, MM-DD-YY, Unix timestamp. Currency in GBP, £, 826. Fields unnamed or misaligned.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20040" y="36118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6"/>
          <p:cNvSpPr/>
          <p:nvPr/>
        </p:nvSpPr>
        <p:spPr>
          <a:xfrm>
            <a:off x="320040" y="3611880"/>
            <a:ext cx="64008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79476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776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&amp; Anomalies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2519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values of R0.00, negative balances in savings accounts, and multi-million spikes flagging potential fraud or input errors.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4206240" y="36118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0"/>
          <p:cNvSpPr/>
          <p:nvPr/>
        </p:nvSpPr>
        <p:spPr>
          <a:xfrm>
            <a:off x="4206240" y="3611880"/>
            <a:ext cx="64008" cy="20116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7947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892040" y="3776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Conflicts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343400" y="42519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SWIFT, SEPA, Bloomberg, and internal ledgers use different schemas with conflicting column names and semantics.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8092440" y="3611880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1" name="Shape 24"/>
          <p:cNvSpPr/>
          <p:nvPr/>
        </p:nvSpPr>
        <p:spPr>
          <a:xfrm>
            <a:off x="8092440" y="3611880"/>
            <a:ext cx="64008" cy="201168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320" y="379476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778240" y="37764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229600" y="425196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teams spend 30–40 hrs/week manually comparing spreadsheets — error-prone, slow, and unscalable as volume grows.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320040" y="626364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automation, these issues cost financial institutions an average of $12.8M annually in operational risk and inefficiency.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Financial Data Sources to Clean, Trusted Power BI Reports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651760" cy="59436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EXTRACT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874520"/>
            <a:ext cx="2651760" cy="3200400"/>
          </a:xfrm>
          <a:prstGeom prst="rect">
            <a:avLst/>
          </a:prstGeom>
          <a:solidFill>
            <a:srgbClr val="142136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658368" y="1975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560320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58368" y="25237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/ SEPA Files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108960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58368" y="30723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Feed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57600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658368" y="36210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Rate API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4206240"/>
            <a:ext cx="164592" cy="164592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58368" y="41696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CSV Uploads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44368" y="2633472"/>
            <a:ext cx="201168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306324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1234440"/>
            <a:ext cx="2651760" cy="59436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20040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VALIDATE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Quality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1874520"/>
            <a:ext cx="2651760" cy="3200400"/>
          </a:xfrm>
          <a:prstGeom prst="rect">
            <a:avLst/>
          </a:prstGeom>
          <a:solidFill>
            <a:srgbClr val="142136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22"/>
          <p:cNvSpPr/>
          <p:nvPr/>
        </p:nvSpPr>
        <p:spPr>
          <a:xfrm>
            <a:off x="3337560" y="201168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3584448" y="1975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Detection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56032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584448" y="25237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Enforcement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10896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3584448" y="30723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Flagging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65760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3584448" y="36210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Alignment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4206240"/>
            <a:ext cx="164592" cy="164592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3584448" y="41696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Tagging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70448" y="2633472"/>
            <a:ext cx="201168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598932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26480" y="1234440"/>
            <a:ext cx="2651760" cy="5943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612648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TRANSFORM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2648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Standardise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1874520"/>
            <a:ext cx="2651760" cy="3200400"/>
          </a:xfrm>
          <a:prstGeom prst="rect">
            <a:avLst/>
          </a:prstGeom>
          <a:solidFill>
            <a:srgbClr val="142136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6263640" y="201168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510528" y="1975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Normalisation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256032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510528" y="25237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Conversion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63640" y="310896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6510528" y="30723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Capping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365760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6510528" y="36210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263640" y="4206240"/>
            <a:ext cx="164592" cy="16459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6510528" y="41696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796528" y="2633472"/>
            <a:ext cx="201168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891540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9052560" y="1234440"/>
            <a:ext cx="2651760" cy="59436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3" name="Text 51"/>
          <p:cNvSpPr/>
          <p:nvPr/>
        </p:nvSpPr>
        <p:spPr>
          <a:xfrm>
            <a:off x="90525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LOAD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052560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Ready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052560" y="1874520"/>
            <a:ext cx="2651760" cy="3200400"/>
          </a:xfrm>
          <a:prstGeom prst="rect">
            <a:avLst/>
          </a:prstGeom>
          <a:solidFill>
            <a:srgbClr val="142136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Shape 54"/>
          <p:cNvSpPr/>
          <p:nvPr/>
        </p:nvSpPr>
        <p:spPr>
          <a:xfrm>
            <a:off x="9189720" y="2011680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7" name="Text 55"/>
          <p:cNvSpPr/>
          <p:nvPr/>
        </p:nvSpPr>
        <p:spPr>
          <a:xfrm>
            <a:off x="9436608" y="197510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Model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189720" y="2560320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9436608" y="25237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Transactions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189720" y="3108960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1" name="Text 59"/>
          <p:cNvSpPr/>
          <p:nvPr/>
        </p:nvSpPr>
        <p:spPr>
          <a:xfrm>
            <a:off x="9436608" y="30723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 Account/FX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189720" y="3657600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3" name="Text 61"/>
          <p:cNvSpPr/>
          <p:nvPr/>
        </p:nvSpPr>
        <p:spPr>
          <a:xfrm>
            <a:off x="9436608" y="36210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Refresh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189720" y="4206240"/>
            <a:ext cx="164592" cy="164592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5" name="Text 63"/>
          <p:cNvSpPr/>
          <p:nvPr/>
        </p:nvSpPr>
        <p:spPr>
          <a:xfrm>
            <a:off x="9436608" y="41696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5257800"/>
            <a:ext cx="11521440" cy="960120"/>
          </a:xfrm>
          <a:prstGeom prst="rect">
            <a:avLst/>
          </a:prstGeom>
          <a:solidFill>
            <a:srgbClr val="142550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7" name="Text 65"/>
          <p:cNvSpPr/>
          <p:nvPr/>
        </p:nvSpPr>
        <p:spPr>
          <a:xfrm>
            <a:off x="457200" y="5367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 BI Output: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651760" y="5367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Transaction Reconciliation Report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4480560" y="5367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FX Exposure Dashboard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6309360" y="5367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Quality Scorecard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8138160" y="5367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Audit Trail Log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9966960" y="53675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Fraud Anomaly Heatmap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SCORECARD  |  Before vs After ETL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68680"/>
          <a:ext cx="68580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7406640" y="86868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27432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Shape 3"/>
          <p:cNvSpPr/>
          <p:nvPr/>
        </p:nvSpPr>
        <p:spPr>
          <a:xfrm>
            <a:off x="274320" y="4572000"/>
            <a:ext cx="2743200" cy="109728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4"/>
          <p:cNvSpPr/>
          <p:nvPr/>
        </p:nvSpPr>
        <p:spPr>
          <a:xfrm>
            <a:off x="274320" y="4681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4.2M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74320" y="5257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Processed Monthly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7"/>
          <p:cNvSpPr/>
          <p:nvPr/>
        </p:nvSpPr>
        <p:spPr>
          <a:xfrm>
            <a:off x="3200400" y="4572000"/>
            <a:ext cx="27432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8"/>
          <p:cNvSpPr/>
          <p:nvPr/>
        </p:nvSpPr>
        <p:spPr>
          <a:xfrm>
            <a:off x="3200400" y="4681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200400" y="5257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Post-ETL Accuracy Rate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12648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1"/>
          <p:cNvSpPr/>
          <p:nvPr/>
        </p:nvSpPr>
        <p:spPr>
          <a:xfrm>
            <a:off x="6126480" y="4572000"/>
            <a:ext cx="2743200" cy="10972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2"/>
          <p:cNvSpPr/>
          <p:nvPr/>
        </p:nvSpPr>
        <p:spPr>
          <a:xfrm>
            <a:off x="6126480" y="4681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min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126480" y="5257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Latency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05256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5"/>
          <p:cNvSpPr/>
          <p:nvPr/>
        </p:nvSpPr>
        <p:spPr>
          <a:xfrm>
            <a:off x="9052560" y="4572000"/>
            <a:ext cx="274320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6"/>
          <p:cNvSpPr/>
          <p:nvPr/>
        </p:nvSpPr>
        <p:spPr>
          <a:xfrm>
            <a:off x="9052560" y="468172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9052560" y="5257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Data Errors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74320" y="5897880"/>
            <a:ext cx="11521440" cy="457200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19"/>
          <p:cNvSpPr/>
          <p:nvPr/>
        </p:nvSpPr>
        <p:spPr>
          <a:xfrm>
            <a:off x="457200" y="596188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All metrics validated against 6 months of live FinTech transaction data across banking, FX, and capital markets datasets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RULES  |  Power Query M &amp; DAX Logic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66928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66928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&amp; Missing Values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" y="1435608"/>
            <a:ext cx="9144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21792" y="137160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ID: Reject row, route to Error Log table with timestamp + source tag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1920240"/>
            <a:ext cx="9144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21792" y="185623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Code: Impute from Account master lookup; fallback = 'UNKNOWN'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" y="2404872"/>
            <a:ext cx="9144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621792" y="234086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Date: Derive from Settlement Date minus T+2 standard; flag for review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" y="2889504"/>
            <a:ext cx="9144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21792" y="282549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Zero-fill operational nulls; reject transactional nulls as critical errors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868680"/>
            <a:ext cx="566928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217920" y="868680"/>
            <a:ext cx="5669280" cy="41148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355080" y="914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Standardisation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82512" y="1435608"/>
            <a:ext cx="91440" cy="914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565392" y="137160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Normalise all formats → ISO 8601 (YYYY-MM-DD) using locale-aware parser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82512" y="1920240"/>
            <a:ext cx="91440" cy="914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565392" y="185623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Currency: Map all variants (£, GBP, 826) → ISO 4217 code; store numeric ISO as alt key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82512" y="2404872"/>
            <a:ext cx="91440" cy="914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6565392" y="234086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Amounts: Strip commas, convert to Decimal.Type(18,4); preserve sign for debit/credit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82512" y="2889504"/>
            <a:ext cx="91440" cy="91440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6565392" y="282549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Numbers: IBAN checksum validation; mask last 4 digits for non-privileged roles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566160"/>
            <a:ext cx="566928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0D47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274320" y="3566160"/>
            <a:ext cx="5669280" cy="4114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411480" y="3611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8912" y="4133088"/>
            <a:ext cx="91440" cy="914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21792" y="40690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key: Source + Reference ID + Amount + Date + Account → hash with SHA-256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" y="4617720"/>
            <a:ext cx="91440" cy="914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21792" y="455371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duplicates: Remove and log with count, first-seen timestamp, and source system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" y="5102352"/>
            <a:ext cx="91440" cy="914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621792" y="50383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Near-duplicates (fuzzy): Flag for human review within 95% similarity threshold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" y="5586984"/>
            <a:ext cx="91440" cy="9144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621792" y="552297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loads: Merge strategy ensures re-running pipeline never creates new duplicates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3566160"/>
            <a:ext cx="5669280" cy="2514600"/>
          </a:xfrm>
          <a:prstGeom prst="rect">
            <a:avLst/>
          </a:prstGeom>
          <a:solidFill>
            <a:srgbClr val="F4F6F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Shape 36"/>
          <p:cNvSpPr/>
          <p:nvPr/>
        </p:nvSpPr>
        <p:spPr>
          <a:xfrm>
            <a:off x="6217920" y="3566160"/>
            <a:ext cx="566928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6355080" y="36118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82512" y="4133088"/>
            <a:ext cx="9144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565392" y="4069080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method: Values beyond Q3 + 3×IQR flagged as statistical anomalies; not removed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82512" y="4617720"/>
            <a:ext cx="9144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565392" y="4553712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rules: Transactions &gt; $500K auto-escalate to compliance review queue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382512" y="5102352"/>
            <a:ext cx="9144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6565392" y="5038344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rules: &gt;50 transactions/min per account flags fraud risk; tagged in output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82512" y="5586984"/>
            <a:ext cx="9144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6565392" y="5522976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balance: Allowed for overdraft accounts (flag = OD); reject for asset accounts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DATA MODEL  |  Star Schema for FinTech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251960" y="1920240"/>
            <a:ext cx="3291840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251960" y="1920240"/>
            <a:ext cx="3291840" cy="4114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251960" y="19385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FACT_TRANSACTIONS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9120" y="24231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TransactionID (PK)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389120" y="2651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AccountKey (FK)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389120" y="28803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DateKey (FK)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389120" y="31089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CurrencyKey (FK)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89120" y="3337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InstrumentKey (FK)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389120" y="35661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(Decimal)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0" y="37947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DebitCredit (Flag)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0" y="40233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(Enum)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89120" y="42519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RiskScore (Float)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389120" y="448056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AuditTimestamp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1188720"/>
            <a:ext cx="3017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274320" y="1188720"/>
            <a:ext cx="301752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365760" y="1225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DIM_ACCOUNT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1645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AccountKey (PK)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1993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AccountNumber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23408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AccountType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26883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ClientName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035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BranchCode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11480" y="338328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RiskRating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91840" y="2286000"/>
            <a:ext cx="123444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3434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4114800"/>
            <a:ext cx="3017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47A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274320" y="4114800"/>
            <a:ext cx="3017520" cy="3474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365760" y="4151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4572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DateKey (PK)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4919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FullDate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5266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56144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59618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63093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IsBusinessDay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91840" y="5212080"/>
            <a:ext cx="1234440" cy="36576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4343400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778240" y="1188720"/>
            <a:ext cx="3017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8778240" y="1188720"/>
            <a:ext cx="3017520" cy="347472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8869680" y="12252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DIM_CURRENCY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915400" y="164592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CurrencyKey (PK)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8915400" y="19933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ISOCode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915400" y="23408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CurrencyName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915400" y="26883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FXRateToUSD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915400" y="30358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543800" y="2286000"/>
            <a:ext cx="1234440" cy="36576"/>
          </a:xfrm>
          <a:prstGeom prst="rect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7516368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778240" y="4114800"/>
            <a:ext cx="30175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0" name="Shape 48"/>
          <p:cNvSpPr/>
          <p:nvPr/>
        </p:nvSpPr>
        <p:spPr>
          <a:xfrm>
            <a:off x="8778240" y="4114800"/>
            <a:ext cx="301752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8869680" y="41513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DIM_INSTRUMENT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915400" y="4572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InstrumentKey (PK)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915400" y="4919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915400" y="52669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AssetClass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915400" y="56144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915400" y="59618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MaturityDate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543800" y="5212080"/>
            <a:ext cx="1234440" cy="36576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8" name="Text 56"/>
          <p:cNvSpPr/>
          <p:nvPr/>
        </p:nvSpPr>
        <p:spPr>
          <a:xfrm>
            <a:off x="7516368" y="5074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320040" y="6400800"/>
            <a:ext cx="11521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relationships are single-directional 1:Many from Dimension to Fact — optimised for Power BI DirectQuery and Import Mode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9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9436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91440"/>
            <a:ext cx="10972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REPORT  |  FinTech Transaction Intelligence Dashboard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27432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Volume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12% vs prior month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0" y="713232"/>
            <a:ext cx="27432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0040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from 64% pre-ETL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126480" y="713232"/>
            <a:ext cx="27432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612648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1,247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2648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Records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89% from raw data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52560" y="713232"/>
            <a:ext cx="2743200" cy="1005840"/>
          </a:xfrm>
          <a:prstGeom prst="rect">
            <a:avLst/>
          </a:prstGeom>
          <a:solidFill>
            <a:srgbClr val="0D2240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905256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5256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Refresh Time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052560" y="1417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</a:t>
            </a:r>
            <a:endParaRPr lang="en-US" sz="8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1874520"/>
          <a:ext cx="68580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1" name="Chart 1"/>
          <p:cNvGraphicFramePr/>
          <p:nvPr/>
        </p:nvGraphicFramePr>
        <p:xfrm>
          <a:off x="7360920" y="1874520"/>
          <a:ext cx="44805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2" name="Chart 2"/>
          <p:cNvGraphicFramePr/>
          <p:nvPr/>
        </p:nvGraphicFramePr>
        <p:xfrm>
          <a:off x="274320" y="4617720"/>
          <a:ext cx="32004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3" name="Chart 3"/>
          <p:cNvGraphicFramePr/>
          <p:nvPr/>
        </p:nvGraphicFramePr>
        <p:xfrm>
          <a:off x="3657600" y="4617720"/>
          <a:ext cx="43891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4" name="Shape 18"/>
          <p:cNvSpPr/>
          <p:nvPr/>
        </p:nvSpPr>
        <p:spPr>
          <a:xfrm>
            <a:off x="8275320" y="4617720"/>
            <a:ext cx="3566160" cy="1920240"/>
          </a:xfrm>
          <a:prstGeom prst="rect">
            <a:avLst/>
          </a:prstGeom>
          <a:solidFill>
            <a:srgbClr val="0D2240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19"/>
          <p:cNvSpPr/>
          <p:nvPr/>
        </p:nvSpPr>
        <p:spPr>
          <a:xfrm>
            <a:off x="8366760" y="4709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0C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DATA QUALITY INDEX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8366760" y="50749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4000" dirty="0"/>
          </a:p>
        </p:txBody>
      </p:sp>
      <p:sp>
        <p:nvSpPr>
          <p:cNvPr id="27" name="Text 21"/>
          <p:cNvSpPr/>
          <p:nvPr/>
        </p:nvSpPr>
        <p:spPr>
          <a:xfrm>
            <a:off x="8366760" y="5897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+35.3 pts vs Pre-ETL Baseline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8412480" y="6263640"/>
            <a:ext cx="3291840" cy="10972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Shape 23"/>
          <p:cNvSpPr/>
          <p:nvPr/>
        </p:nvSpPr>
        <p:spPr>
          <a:xfrm>
            <a:off x="8412480" y="6263640"/>
            <a:ext cx="2106778" cy="10972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XCEPTOR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our ETL approach with Xceptor's mission: Automate. Validate. Reconcile.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577840" cy="2057400"/>
          </a:xfrm>
          <a:prstGeom prst="rect">
            <a:avLst/>
          </a:prstGeom>
          <a:solidFill>
            <a:srgbClr val="142136"/>
          </a:solidFill>
          <a:ln w="12700">
            <a:solidFill>
              <a:srgbClr val="00BC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40080" cy="64008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645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5544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Automation at Scale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148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pipeline mirrors Xceptor's intelligent automation principles — rules-based transformation, exception handling, and straight-through processing (STP) for financial transactions without manual intervention.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126480" y="1371600"/>
            <a:ext cx="5577840" cy="2057400"/>
          </a:xfrm>
          <a:prstGeom prst="rect">
            <a:avLst/>
          </a:prstGeom>
          <a:solidFill>
            <a:srgbClr val="142136"/>
          </a:solidFill>
          <a:ln w="12700">
            <a:solidFill>
              <a:srgbClr val="43A04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6309360" y="1600200"/>
            <a:ext cx="640080" cy="64008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6459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15544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Accuracy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09360" y="21488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ETL model supports Xceptor-style reconciliation across nostro/vostro accounts, trade settlement, and regulatory reporting — achieving 99.3% match rates through robust deduplication and master data alignment.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4320" y="3611880"/>
            <a:ext cx="5577840" cy="2057400"/>
          </a:xfrm>
          <a:prstGeom prst="rect">
            <a:avLst/>
          </a:prstGeom>
          <a:solidFill>
            <a:srgbClr val="142136"/>
          </a:solidFill>
          <a:ln w="12700">
            <a:solidFill>
              <a:srgbClr val="FFB3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457200" y="3840480"/>
            <a:ext cx="640080" cy="6400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" y="38862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37947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Ready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" y="4389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lineage, audit timestamps, and transformation logs are built into the pipeline from day one — supporting MiFID II, EMIR, and Basel III reporting requirements with full traceability.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126480" y="3611880"/>
            <a:ext cx="5577840" cy="2057400"/>
          </a:xfrm>
          <a:prstGeom prst="rect">
            <a:avLst/>
          </a:prstGeom>
          <a:solidFill>
            <a:srgbClr val="142136"/>
          </a:solidFill>
          <a:ln w="12700">
            <a:solidFill>
              <a:srgbClr val="FB8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Shape 16"/>
          <p:cNvSpPr/>
          <p:nvPr/>
        </p:nvSpPr>
        <p:spPr>
          <a:xfrm>
            <a:off x="6309360" y="3840480"/>
            <a:ext cx="640080" cy="640080"/>
          </a:xfrm>
          <a:prstGeom prst="ellipse">
            <a:avLst/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3368" y="388620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379476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Manual Workload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309360" y="43891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operations teams spend 30-40 hrs/week on manual data wrangling. Our ETL layer reduces this by 74% — freeing analysts to focus on insight generation rather than data cleansing.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274320" y="5989320"/>
            <a:ext cx="11521440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0"/>
          <p:cNvSpPr/>
          <p:nvPr/>
        </p:nvSpPr>
        <p:spPr>
          <a:xfrm>
            <a:off x="457200" y="605332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ETL solution demonstrates the technical depth and domain knowledge Xceptor clients expect from their data automation partners.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1960352" y="0"/>
            <a:ext cx="201168" cy="68580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4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CHAOS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TRUSTED FINANCIAL INTELLIGENCE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0" y="2423160"/>
            <a:ext cx="850392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Work Eliminated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6616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Accuracy Achieved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Speed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35440" y="265176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3min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23544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BA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3749040"/>
            <a:ext cx="8503920" cy="36576"/>
          </a:xfrm>
          <a:prstGeom prst="rect">
            <a:avLst/>
          </a:prstGeom>
          <a:solidFill>
            <a:srgbClr val="334455"/>
          </a:solidFill>
          <a:ln w="12700">
            <a:solidFill>
              <a:srgbClr val="3344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deliver: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443484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Automated ETL pipeline for FinTech multi-source financial data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286000" y="475488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Power BI star schema optimised for high-volume transaction analytics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86000" y="507492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Configurable business rules engine for validation &amp; exception routing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86000" y="539496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Audit-ready data lineage with full transformation history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6000" y="5715000"/>
            <a:ext cx="7772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Scalable architecture supporting 10M+ transactions/day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0" y="6080760"/>
            <a:ext cx="5760720" cy="53035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200400" y="6126480"/>
            <a:ext cx="5760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automate your financial data operations with Xceptor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1134</Words>
  <Application>Microsoft Office PowerPoint</Application>
  <PresentationFormat>Widescreen</PresentationFormat>
  <Paragraphs>200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ETL Dashboard – FinTech Data Automation</dc:title>
  <dc:subject>PptxGenJS Presentation</dc:subject>
  <dc:creator>Xceptor Showcase</dc:creator>
  <cp:lastModifiedBy>Lucky Twala</cp:lastModifiedBy>
  <cp:revision>2</cp:revision>
  <dcterms:created xsi:type="dcterms:W3CDTF">2026-05-06T22:06:53Z</dcterms:created>
  <dcterms:modified xsi:type="dcterms:W3CDTF">2026-05-08T18:06:09Z</dcterms:modified>
</cp:coreProperties>
</file>